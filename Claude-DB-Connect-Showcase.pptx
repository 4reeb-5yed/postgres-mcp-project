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417320"/>
            <a:ext cx="201168" cy="201168"/>
          </a:xfrm>
          <a:prstGeom prst="ellipse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5" y="1417320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464" y="1417320"/>
            <a:ext cx="201168" cy="201168"/>
          </a:xfrm>
          <a:prstGeom prst="ellipse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10512" y="1417320"/>
            <a:ext cx="201168" cy="201168"/>
          </a:xfrm>
          <a:prstGeom prst="ellipse">
            <a:avLst/>
          </a:prstGeom>
          <a:solidFill>
            <a:srgbClr val="0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Claude DB Connect</a:t>
            </a:r>
          </a:p>
          <a:p>
            <a:pPr algn="l">
              <a:lnSpc>
                <a:spcPct val="92000"/>
              </a:lnSpc>
              <a:spcAft>
                <a:spcPts val="600"/>
              </a:spcAft>
            </a:pPr>
            <a:r>
              <a:rPr sz="4200" b="1" i="0">
                <a:solidFill>
                  <a:srgbClr val="2563EB"/>
                </a:solidFill>
                <a:latin typeface="Segoe UI"/>
              </a:rPr>
              <a:t>One assistant, four local databases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5760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B6BDC8"/>
                </a:solidFill>
                <a:latin typeface="Segoe UI"/>
              </a:rPr>
              <a:t>Claude Desktop wired to PostgreSQL, MySQL, MS SQL Server and SQLite over the Model Context Protocol — asking questions in plain English and getting answers from real SQL run against live local databases.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892040"/>
            <a:ext cx="20116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7C8492"/>
                </a:solidFill>
                <a:latin typeface="Segoe UI"/>
              </a:rPr>
              <a:t>What it is  ·  how it works  ·  a full MS SQL Server walkthrough  ·  what broke along the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E7480"/>
                </a:solidFill>
                <a:latin typeface="Segoe UI"/>
              </a:rPr>
              <a:t>Claude DB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E7480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55448" cy="155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86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2563EB"/>
                </a:solidFill>
                <a:latin typeface="Segoe UI"/>
              </a:rPr>
              <a:t>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Segoe UI"/>
              </a:rPr>
              <a:t>What this is, and what you can do with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16736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A working integration, plus the debugging trail that made it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37160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83080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9967"/>
            <a:ext cx="1087495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50" b="0" i="0">
                <a:solidFill>
                  <a:srgbClr val="1A1D21"/>
                </a:solidFill>
                <a:latin typeface="Segoe UI"/>
              </a:rPr>
              <a:t>Claude Desktop can normally only talk </a:t>
            </a:r>
            <a:r>
              <a:rPr sz="1450" b="0" i="1">
                <a:solidFill>
                  <a:srgbClr val="1A1D21"/>
                </a:solidFill>
                <a:latin typeface="Segoe UI"/>
              </a:rPr>
              <a:t>about</a:t>
            </a:r>
            <a:r>
              <a:rPr sz="1450" b="0" i="0">
                <a:solidFill>
                  <a:srgbClr val="1A1D21"/>
                </a:solidFill>
                <a:latin typeface="Segoe UI"/>
              </a:rPr>
              <a:t> your data. This project gives it a live connection to four different local databases, so it reads the actual schema, writes real SQL, runs it, and answers from the rows that come back — with the tool call visible every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990087"/>
            <a:ext cx="3515258" cy="17830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990087"/>
            <a:ext cx="3515258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46120"/>
            <a:ext cx="30763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A1D21"/>
                </a:solidFill>
                <a:latin typeface="Segoe UI"/>
              </a:rPr>
              <a:t>Ask in plain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11879"/>
            <a:ext cx="307634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“What columns does the employees table have?” becomes a real schema query. No SQL written by hand, no connection string pasted into a chat.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218" y="2990087"/>
            <a:ext cx="3515258" cy="17830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8218" y="2990087"/>
            <a:ext cx="3515258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7674" y="3246120"/>
            <a:ext cx="30763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A1D21"/>
                </a:solidFill>
                <a:latin typeface="Segoe UI"/>
              </a:rPr>
              <a:t>Four databases, side by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7674" y="3611879"/>
            <a:ext cx="307634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PostgreSQL, MySQL, MS SQL Server and SQLite all connected at once — so a prompt can name which engine it should hit.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8068" y="2990087"/>
            <a:ext cx="3515258" cy="17830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8068" y="2990087"/>
            <a:ext cx="3515258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7524" y="3246120"/>
            <a:ext cx="30763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A1D21"/>
                </a:solidFill>
                <a:latin typeface="Segoe UI"/>
              </a:rPr>
              <a:t>It generates working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7524" y="3611879"/>
            <a:ext cx="307634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Ask for a Python script that charts the data and it pulls the live rows first, then writes code against the real schema.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001768"/>
            <a:ext cx="10874959" cy="7315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001768"/>
            <a:ext cx="50292" cy="731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120640"/>
            <a:ext cx="104177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Worth saying plainly: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not one of the four worked by following the official guide as written. The integration is the deliverable; the debugging trail is the interesting part, and it is documented per database in the repo.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The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55448" cy="15544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86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5803D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Segoe UI"/>
              </a:rPr>
              <a:t>The architecture,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16736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Every one of the four integrations is the same three-hop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371600" cy="3200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83080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487168"/>
            <a:ext cx="3063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487168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98063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A1D21"/>
                </a:solidFill>
                <a:latin typeface="Segoe UI"/>
              </a:rPr>
              <a:t>Claude 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6382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the MCP client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94760" y="3054096"/>
            <a:ext cx="512063" cy="237744"/>
          </a:xfrm>
          <a:prstGeom prst="rightArrow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2487168"/>
            <a:ext cx="3063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2487168"/>
            <a:ext cx="45720" cy="1371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798063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A1D21"/>
                </a:solidFill>
                <a:latin typeface="Segoe UI"/>
              </a:rPr>
              <a:t>MCP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6382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translates tool calls to SQL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516368" y="3054096"/>
            <a:ext cx="512063" cy="237744"/>
          </a:xfrm>
          <a:prstGeom prst="rightArrow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2487168"/>
            <a:ext cx="3063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2487168"/>
            <a:ext cx="45720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2798063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A1D21"/>
                </a:solidFill>
                <a:latin typeface="Segoe UI"/>
              </a:rPr>
              <a:t>Your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316382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running locally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3968496"/>
            <a:ext cx="12070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5803D"/>
                </a:solidFill>
                <a:latin typeface="Segoe UI"/>
              </a:rPr>
              <a:t>stdio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3968496"/>
            <a:ext cx="12070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45309"/>
                </a:solidFill>
                <a:latin typeface="Segoe UI"/>
              </a:rPr>
              <a:t>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425696"/>
            <a:ext cx="108749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 i="0">
                <a:solidFill>
                  <a:srgbClr val="1A1D21"/>
                </a:solidFill>
                <a:latin typeface="Segoe UI"/>
              </a:rPr>
              <a:t>The middle hop is the whole story. </a:t>
            </a:r>
            <a:r>
              <a:rPr sz="1400" b="0" i="0">
                <a:solidFill>
                  <a:srgbClr val="1A1D21"/>
                </a:solidFill>
                <a:latin typeface="Segoe UI"/>
              </a:rPr>
              <a:t>Claude Desktop launches each MCP server as a local child process and talks to it over stdio — plain stdin/stdout, no network port, no HTTP. The server exposes database operations as callable tools, so Claude can list tables, read a schema, and run a query as discrete tool calls.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This single constraint is what invalidated the setup the original guide recommended: the image it named runs an HTTP server, which Claude Desktop's local MCP integration cannot speak to at all.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806440"/>
            <a:ext cx="10874959" cy="5486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806440"/>
            <a:ext cx="50292" cy="548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925312"/>
            <a:ext cx="10417759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15803D"/>
                </a:solidFill>
                <a:latin typeface="Segoe UI"/>
              </a:rPr>
              <a:t>Nothing is hosted: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the databases, the MCP servers and the client all run on one machine. No cloud database, no exposed port, no shared credentials.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55448" cy="15544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86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5803D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Segoe UI"/>
              </a:rPr>
              <a:t>The four integrations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16736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Same architecture every time — what changes is how the server is packaged and where the data lives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371600" cy="3200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83080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139696"/>
          <a:ext cx="11786616" cy="2560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31720"/>
                <a:gridCol w="2697480"/>
                <a:gridCol w="3246120"/>
                <a:gridCol w="3511296"/>
              </a:tblGrid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marL="164592" marR="109728" marT="64008" marB="64008" anchor="ctr"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MCP server</a:t>
                      </a:r>
                    </a:p>
                  </a:txBody>
                  <a:tcPr marL="164592" marR="109728" marT="64008" marB="64008" anchor="ctr"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Launched via</a:t>
                      </a:r>
                    </a:p>
                  </a:txBody>
                  <a:tcPr marL="164592" marR="109728" marT="64008" marB="64008" anchor="ctr"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Where the data lives</a:t>
                      </a:r>
                    </a:p>
                  </a:txBody>
                  <a:tcPr marL="164592" marR="109728" marT="64008" marB="64008" anchor="ctr">
                    <a:solidFill>
                      <a:srgbClr val="1618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36791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L="164592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D21"/>
                          </a:solidFill>
                          <a:latin typeface="Consolas"/>
                        </a:rPr>
                        <a:t>postgres-mcp</a:t>
                      </a:r>
                    </a:p>
                  </a:txBody>
                  <a:tcPr marL="164592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Segoe UI"/>
                        </a:rPr>
                        <a:t>uvx, with mcp&lt;2.0.0 pinned</a:t>
                      </a:r>
                    </a:p>
                  </a:txBody>
                  <a:tcPr marL="164592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Segoe UI"/>
                        </a:rPr>
                        <a:t>Docker container, port 5433</a:t>
                      </a:r>
                    </a:p>
                  </a:txBody>
                  <a:tcPr marL="164592" marR="109728" marT="64008" marB="6400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D97706"/>
                          </a:solidFill>
                          <a:latin typeface="Segoe UI"/>
                        </a:rPr>
                        <a:t>MySQL</a:t>
                      </a:r>
                    </a:p>
                  </a:txBody>
                  <a:tcPr marL="164592" marR="109728" marT="64008" marB="6400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D21"/>
                          </a:solidFill>
                          <a:latin typeface="Consolas"/>
                        </a:rPr>
                        <a:t>mysql-mcp-server</a:t>
                      </a:r>
                    </a:p>
                  </a:txBody>
                  <a:tcPr marL="164592" marR="109728" marT="64008" marB="6400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Segoe UI"/>
                        </a:rPr>
                        <a:t>uvx --from</a:t>
                      </a:r>
                    </a:p>
                  </a:txBody>
                  <a:tcPr marL="164592" marR="109728" marT="64008" marB="6400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Segoe UI"/>
                        </a:rPr>
                        <a:t>Docker container, port 3306</a:t>
                      </a:r>
                    </a:p>
                  </a:txBody>
                  <a:tcPr marL="164592" marR="109728" marT="64008" marB="64008" anchor="ctr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4262C"/>
                          </a:solidFill>
                          <a:latin typeface="Segoe UI"/>
                        </a:rPr>
                        <a:t>MS SQL Server</a:t>
                      </a:r>
                    </a:p>
                  </a:txBody>
                  <a:tcPr marL="164592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D21"/>
                          </a:solidFill>
                          <a:latin typeface="Consolas"/>
                        </a:rPr>
                        <a:t>sql-mcp-server</a:t>
                      </a:r>
                    </a:p>
                  </a:txBody>
                  <a:tcPr marL="164592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Segoe UI"/>
                        </a:rPr>
                        <a:t>pip install + ODBC Driver 17</a:t>
                      </a:r>
                    </a:p>
                  </a:txBody>
                  <a:tcPr marL="164592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Segoe UI"/>
                        </a:rPr>
                        <a:t>Docker container, port 1433</a:t>
                      </a:r>
                    </a:p>
                  </a:txBody>
                  <a:tcPr marL="164592" marR="109728" marT="64008" marB="6400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6FB5"/>
                          </a:solidFill>
                          <a:latin typeface="Segoe UI"/>
                        </a:rPr>
                        <a:t>SQLite</a:t>
                      </a:r>
                    </a:p>
                  </a:txBody>
                  <a:tcPr marL="164592" marR="109728" marT="64008" marB="6400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D21"/>
                          </a:solidFill>
                          <a:latin typeface="Consolas"/>
                        </a:rPr>
                        <a:t>mcp-server-sqlite</a:t>
                      </a:r>
                    </a:p>
                  </a:txBody>
                  <a:tcPr marL="164592" marR="109728" marT="64008" marB="6400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Segoe UI"/>
                        </a:rPr>
                        <a:t>uvx</a:t>
                      </a:r>
                    </a:p>
                  </a:txBody>
                  <a:tcPr marL="164592" marR="109728" marT="64008" marB="6400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Segoe UI"/>
                        </a:rPr>
                        <a:t>A local .db file — no server</a:t>
                      </a:r>
                    </a:p>
                  </a:txBody>
                  <a:tcPr marL="164592" marR="109728" marT="64008" marB="64008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4956048"/>
            <a:ext cx="10874959" cy="71323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956048"/>
            <a:ext cx="50292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074920"/>
            <a:ext cx="1041775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Full step-by-step for each: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docs/setup/postgres.md · mysql.md · mssql.md · sqlite.md — every command, config block and gotcha, per database. This deck walks through MS SQL Server in full and points to the rest.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55448" cy="15544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86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5803D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Segoe UI"/>
              </a:rPr>
              <a:t>Why four, and what actually differs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16736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One integration shows the pattern; four expose where the real friction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371600" cy="3200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83080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86000"/>
            <a:ext cx="45720" cy="84124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105091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A1D21"/>
                </a:solidFill>
                <a:latin typeface="Segoe UI"/>
              </a:rPr>
              <a:t>Same transport, different packaging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96896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Three of the four launch through uvx, which fetches and runs the Python server on demand. MS SQL Server needs a real pip install instead, because its server expects a system-level database driver to already be present.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310128"/>
            <a:ext cx="45720" cy="8412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28416"/>
            <a:ext cx="105091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A1D21"/>
                </a:solidFill>
                <a:latin typeface="Segoe UI"/>
              </a:rPr>
              <a:t>One needs a host-level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621024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ODBC Driver 17 for SQL Server has to be installed on the machine itself, with admin elevation. Without it pyodbc cannot open a connection, and the MCP server fails at startup rather than at query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334256"/>
            <a:ext cx="45720" cy="841248"/>
          </a:xfrm>
          <a:prstGeom prst="rect">
            <a:avLst/>
          </a:prstGeom>
          <a:solidFill>
            <a:srgbClr val="0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52544"/>
            <a:ext cx="105091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A1D21"/>
                </a:solidFill>
                <a:latin typeface="Segoe UI"/>
              </a:rPr>
              <a:t>One has no server at 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645152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SQLite is just a file on disk. No container to start, no port to bind, no password — the config simply points at a .db path, which makes it the shortest setup of the four by far.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358384"/>
            <a:ext cx="45720" cy="8412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76672"/>
            <a:ext cx="105091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A1D21"/>
                </a:solidFill>
                <a:latin typeface="Segoe UI"/>
              </a:rPr>
              <a:t>The same upstream break hit two of them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669280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postgres-mcp and sql-mcp-server both crashed on a breaking mcp 2.0.0 release. Same root cause, two different fixes: pin at invocation for uvx, pin at install for pip.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400800"/>
            <a:ext cx="10874959" cy="47548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6400800"/>
            <a:ext cx="50292" cy="47548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6519672"/>
            <a:ext cx="104177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15803D"/>
                </a:solidFill>
                <a:latin typeface="Segoe UI"/>
              </a:rPr>
              <a:t>The takeaway: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“connect an AI assistant to a database” is one sentence and four genuinely different problems.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A4262C"/>
                </a:solidFill>
                <a:latin typeface="Segoe UI"/>
              </a:rPr>
              <a:t>THE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76272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Setting up MS SQL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00400"/>
            <a:ext cx="1828800" cy="411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493008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B6BDC8"/>
                </a:solidFill>
                <a:latin typeface="Segoe UI"/>
              </a:rPr>
              <a:t>Taking one of the four end to end — a host-level ODBC driver, a pip install instead of uvx, and a dependency pin to get past an upstream breaking change. Four steps, then what it can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846320"/>
            <a:ext cx="8778240" cy="749808"/>
          </a:xfrm>
          <a:prstGeom prst="rect">
            <a:avLst/>
          </a:prstGeom>
          <a:solidFill>
            <a:srgbClr val="24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846320"/>
            <a:ext cx="45720" cy="74980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001768"/>
            <a:ext cx="8321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i="0">
                <a:solidFill>
                  <a:srgbClr val="A4262C"/>
                </a:solidFill>
                <a:latin typeface="Segoe UI"/>
              </a:rPr>
              <a:t>The other three  </a:t>
            </a:r>
            <a:r>
              <a:rPr sz="1200" b="0" i="0">
                <a:solidFill>
                  <a:srgbClr val="B6BDC8"/>
                </a:solidFill>
                <a:latin typeface="Segoe UI"/>
              </a:rPr>
              <a:t>follow the same four-step shape — their full guides live in docs/setup/ in the repo.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E7480"/>
                </a:solidFill>
                <a:latin typeface="Segoe UI"/>
              </a:rPr>
              <a:t>MS SQL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E74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155448" cy="1554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703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STEP 1 OF 4 · MS SQL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2800" b="1" i="0">
                <a:solidFill>
                  <a:srgbClr val="1A1D21"/>
                </a:solidFill>
                <a:latin typeface="Segoe UI"/>
              </a:rPr>
              <a:t>Start the server, install the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Two things have to be in place before any MCP server can connect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64792"/>
            <a:ext cx="1371600" cy="320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64792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79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 i="0">
                <a:solidFill>
                  <a:srgbClr val="1A1D21"/>
                </a:solidFill>
                <a:latin typeface="Segoe UI"/>
              </a:rPr>
              <a:t>The container is standard. </a:t>
            </a:r>
            <a:r>
              <a:rPr sz="1350" b="0" i="0">
                <a:solidFill>
                  <a:srgbClr val="1A1D21"/>
                </a:solidFill>
                <a:latin typeface="Segoe UI"/>
              </a:rPr>
              <a:t>The part that is easy to miss is the second command: ODBC Driver 17 is a host-level install, not a Python package, and it needs admin elevation. Without it the MCP server starts and then fails to connect, with an error that points at the driver rather than your password.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78607"/>
            <a:ext cx="108749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6B7280"/>
                </a:solidFill>
                <a:latin typeface="Segoe UI"/>
              </a:rPr>
              <a:t>terminal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34639"/>
            <a:ext cx="10874959" cy="1874519"/>
          </a:xfrm>
          <a:prstGeom prst="roundRect">
            <a:avLst>
              <a:gd name="adj" fmla="val 3500"/>
            </a:avLst>
          </a:prstGeom>
          <a:solidFill>
            <a:srgbClr val="1E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999232"/>
            <a:ext cx="10436047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9AA3B2"/>
                </a:solidFill>
                <a:latin typeface="Consolas"/>
              </a:rPr>
              <a:t># 1 · start SQL Server 2022 in Docker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docker run -d --name local-mssql \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-e "ACCEPT_EULA=Y" \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8BD49C"/>
                </a:solidFill>
                <a:latin typeface="Consolas"/>
              </a:rPr>
              <a:t>  -e "MSSQL_SA_PASSWORD=&lt;YOUR_PASSWORD&gt;" \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-p 1433:1433 \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mcr.microsoft.com/mssql/server:2022-latest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54879"/>
            <a:ext cx="108749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6B7280"/>
                </a:solidFill>
                <a:latin typeface="Segoe UI"/>
              </a:rPr>
              <a:t>host dependency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010912"/>
            <a:ext cx="10874959" cy="841248"/>
          </a:xfrm>
          <a:prstGeom prst="roundRect">
            <a:avLst>
              <a:gd name="adj" fmla="val 3500"/>
            </a:avLst>
          </a:prstGeom>
          <a:solidFill>
            <a:srgbClr val="1E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5175503"/>
            <a:ext cx="1043604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9AA3B2"/>
                </a:solidFill>
                <a:latin typeface="Consolas"/>
              </a:rPr>
              <a:t># 2 · install ODBC Driver 17 for SQL Server on the host (needs admin / UAC)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8BD49C"/>
                </a:solidFill>
                <a:latin typeface="Consolas"/>
              </a:rPr>
              <a:t>learn.microsoft.com/en-us/sql/connect/odbc/download-odbc-driver-for-sql-server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053327"/>
            <a:ext cx="10874959" cy="51206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6053327"/>
            <a:ext cx="50292" cy="51206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6172199"/>
            <a:ext cx="1041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A4262C"/>
                </a:solidFill>
                <a:latin typeface="Segoe UI"/>
              </a:rPr>
              <a:t>Give it ~30 seconds: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SQL Server finishes initialising well after the container reports as running. Connecting too early looks exactly like a wrong password.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The walkthrough · MS SQL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155448" cy="1554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703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STEP 2 OF 4 · MS SQL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2800" b="1" i="0">
                <a:solidFill>
                  <a:srgbClr val="1A1D21"/>
                </a:solidFill>
                <a:latin typeface="Segoe UI"/>
              </a:rPr>
              <a:t>Seed a schema worth querying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A deliberately different dataset from the other three databases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64792"/>
            <a:ext cx="1371600" cy="320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64792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79"/>
            <a:ext cx="108749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 i="0">
                <a:solidFill>
                  <a:srgbClr val="1A1D21"/>
                </a:solidFill>
                <a:latin typeface="Segoe UI"/>
              </a:rPr>
              <a:t>MS SQL Server gets a </a:t>
            </a:r>
            <a:r>
              <a:rPr sz="1350" b="1" i="0">
                <a:solidFill>
                  <a:srgbClr val="1A1D21"/>
                </a:solidFill>
                <a:latin typeface="Consolas"/>
              </a:rPr>
              <a:t>books</a:t>
            </a:r>
            <a:r>
              <a:rPr sz="1350" b="0" i="0">
                <a:solidFill>
                  <a:srgbClr val="1A1D21"/>
                </a:solidFill>
                <a:latin typeface="Segoe UI"/>
              </a:rPr>
              <a:t> table rather than the </a:t>
            </a:r>
            <a:r>
              <a:rPr sz="1350" b="0" i="0">
                <a:solidFill>
                  <a:srgbClr val="1A1D21"/>
                </a:solidFill>
                <a:latin typeface="Consolas"/>
              </a:rPr>
              <a:t>employees</a:t>
            </a:r>
            <a:r>
              <a:rPr sz="1350" b="0" i="0">
                <a:solidFill>
                  <a:srgbClr val="1A1D21"/>
                </a:solidFill>
                <a:latin typeface="Segoe UI"/>
              </a:rPr>
              <a:t> table used elsewhere. That is intentional: with all four connections live at once, distinct schemas make it immediately obvious which database actually answered a prompt.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78607"/>
            <a:ext cx="108749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6B7280"/>
                </a:solidFill>
                <a:latin typeface="Segoe UI"/>
              </a:rPr>
              <a:t>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34639"/>
            <a:ext cx="10874959" cy="2212848"/>
          </a:xfrm>
          <a:prstGeom prst="roundRect">
            <a:avLst>
              <a:gd name="adj" fmla="val 3500"/>
            </a:avLst>
          </a:prstGeom>
          <a:solidFill>
            <a:srgbClr val="1E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999232"/>
            <a:ext cx="10436047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9AA3B2"/>
                </a:solidFill>
                <a:latin typeface="Consolas"/>
              </a:rPr>
              <a:t>-- sql/mssql/books_schema.sql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CREATE TABLE books (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id     INT IDENTITY(1,1) PRIMARY KEY,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8BD49C"/>
                </a:solidFill>
                <a:latin typeface="Consolas"/>
              </a:rPr>
              <a:t>  title  VARCHAR(200) NOT NULL,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8BD49C"/>
                </a:solidFill>
                <a:latin typeface="Consolas"/>
              </a:rPr>
              <a:t>  author VARCHAR(100) NOT NULL,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genre  VARCHAR(50),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  price  DECIMAL(6,2)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5780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Seeded with five rows — </a:t>
            </a:r>
            <a:r>
              <a:rPr sz="1250" b="0" i="1">
                <a:solidFill>
                  <a:srgbClr val="1A1D21"/>
                </a:solidFill>
                <a:latin typeface="Segoe UI"/>
              </a:rPr>
              <a:t>The Silent Orbit, Whispers of Kanto, Beneath the Ash, Letters to Aria, The Last Cartographer</a:t>
            </a:r>
            <a:r>
              <a:rPr sz="1250" b="0" i="0">
                <a:solidFill>
                  <a:srgbClr val="6B7280"/>
                </a:solidFill>
                <a:latin typeface="Segoe UI"/>
              </a:rPr>
              <a:t> — spanning five genres and a $11.99–$18.00 price range, so aggregation and ranking queries both return something meaningful.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925312"/>
            <a:ext cx="10874959" cy="51206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925312"/>
            <a:ext cx="50292" cy="51206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6044184"/>
            <a:ext cx="1041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A4262C"/>
                </a:solidFill>
                <a:latin typeface="Segoe UI"/>
              </a:rPr>
              <a:t>Small on purpose: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five rows exercise the whole path end to end. What matters is that the query is real, not that the dataset is large.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The walkthrough · MS SQL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155448" cy="1554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703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STEP 3 OF 4 · MS SQL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2800" b="1" i="0">
                <a:solidFill>
                  <a:srgbClr val="1A1D21"/>
                </a:solidFill>
                <a:latin typeface="Segoe UI"/>
              </a:rPr>
              <a:t>Install the MCP server, and pin the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The one step where the obvious command leaves you with a broken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64792"/>
            <a:ext cx="1371600" cy="320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64792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79"/>
            <a:ext cx="1087495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 i="0">
                <a:solidFill>
                  <a:srgbClr val="1A1D21"/>
                </a:solidFill>
                <a:latin typeface="Segoe UI"/>
              </a:rPr>
              <a:t>Install it with pip, not uvx</a:t>
            </a:r>
            <a:r>
              <a:rPr sz="1350" b="0" i="0">
                <a:solidFill>
                  <a:srgbClr val="1A1D21"/>
                </a:solidFill>
                <a:latin typeface="Segoe UI"/>
              </a:rPr>
              <a:t> — the server needs to live in a real environment alongside the ODBC driver. Then immediately pin the SDK. The upstream </a:t>
            </a:r>
            <a:r>
              <a:rPr sz="1350" b="0" i="0">
                <a:solidFill>
                  <a:srgbClr val="1A1D21"/>
                </a:solidFill>
                <a:latin typeface="Consolas"/>
              </a:rPr>
              <a:t>mcp</a:t>
            </a:r>
            <a:r>
              <a:rPr sz="1350" b="0" i="0">
                <a:solidFill>
                  <a:srgbClr val="1A1D21"/>
                </a:solidFill>
                <a:latin typeface="Segoe UI"/>
              </a:rPr>
              <a:t> package shipped a breaking 2.0.0 that renamed </a:t>
            </a:r>
            <a:r>
              <a:rPr sz="1350" b="0" i="0">
                <a:solidFill>
                  <a:srgbClr val="1A1D21"/>
                </a:solidFill>
                <a:latin typeface="Consolas"/>
              </a:rPr>
              <a:t>FastMCP</a:t>
            </a:r>
            <a:r>
              <a:rPr sz="1350" b="0" i="0">
                <a:solidFill>
                  <a:srgbClr val="1A1D21"/>
                </a:solidFill>
                <a:latin typeface="Segoe UI"/>
              </a:rPr>
              <a:t> and moved the module entirely, but </a:t>
            </a:r>
            <a:r>
              <a:rPr sz="1350" b="0" i="0">
                <a:solidFill>
                  <a:srgbClr val="1A1D21"/>
                </a:solidFill>
                <a:latin typeface="Consolas"/>
              </a:rPr>
              <a:t>sql-mcp-server</a:t>
            </a:r>
            <a:r>
              <a:rPr sz="1350" b="0" i="0">
                <a:solidFill>
                  <a:srgbClr val="1A1D21"/>
                </a:solidFill>
                <a:latin typeface="Segoe UI"/>
              </a:rPr>
              <a:t> declares no upper bound — so a clean install silently pulls the version that cannot run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79776"/>
            <a:ext cx="108749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6B7280"/>
                </a:solidFill>
                <a:latin typeface="Segoe UI"/>
              </a:rPr>
              <a:t>terminal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35808"/>
            <a:ext cx="10874959" cy="1207008"/>
          </a:xfrm>
          <a:prstGeom prst="roundRect">
            <a:avLst>
              <a:gd name="adj" fmla="val 3500"/>
            </a:avLst>
          </a:prstGeom>
          <a:solidFill>
            <a:srgbClr val="1E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00400"/>
            <a:ext cx="10436047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E6E9EF"/>
                </a:solidFill>
                <a:latin typeface="Consolas"/>
              </a:rPr>
              <a:t>pip install sql-mcp-server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8BD49C"/>
                </a:solidFill>
                <a:latin typeface="Consolas"/>
              </a:rPr>
              <a:t>pip install "mcp&lt;2.0.0" --force-reinstall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9AA3B2"/>
                </a:solidFill>
                <a:latin typeface="Consolas"/>
              </a:rPr>
              <a:t># second line is not optional — without it the server crashes on startup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0740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6B7280"/>
                </a:solidFill>
                <a:latin typeface="Segoe UI"/>
              </a:rPr>
              <a:t>What you see if you skip the pin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663440"/>
            <a:ext cx="10874959" cy="56692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663440"/>
            <a:ext cx="45720" cy="5669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809744"/>
            <a:ext cx="104177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B91C1C"/>
                </a:solidFill>
                <a:latin typeface="Consolas"/>
              </a:rPr>
              <a:t>ModuleNotFoundError: No module named 'mcp.server.fastmcp'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413248"/>
            <a:ext cx="10874959" cy="71323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413248"/>
            <a:ext cx="50292" cy="713232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532120"/>
            <a:ext cx="1041775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A4262C"/>
                </a:solidFill>
                <a:latin typeface="Segoe UI"/>
              </a:rPr>
              <a:t>Same bug, second time: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PostgreSQL hit this identical breaking change. There it is pinned at invocation time inside the uvx command; here it has to be pinned at install time. Recognising it as one upstream problem rather than two saved a second round of debugging.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The walkthrough · MS SQL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02336"/>
            <a:ext cx="155448" cy="1554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703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STEP 4 OF 4 · MS SQL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2800" b="1" i="0">
                <a:solidFill>
                  <a:srgbClr val="1A1D21"/>
                </a:solidFill>
                <a:latin typeface="Segoe UI"/>
              </a:rPr>
              <a:t>Register it with Claude Desktop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The config block, and the two things that quietly go wrong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64792"/>
            <a:ext cx="1371600" cy="320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64792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10511"/>
            <a:ext cx="6537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6B7280"/>
                </a:solidFill>
                <a:latin typeface="Segoe UI"/>
              </a:rPr>
              <a:t>claude_desktop_config.json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66543"/>
            <a:ext cx="6537960" cy="3310128"/>
          </a:xfrm>
          <a:prstGeom prst="roundRect">
            <a:avLst>
              <a:gd name="adj" fmla="val 3500"/>
            </a:avLst>
          </a:prstGeom>
          <a:solidFill>
            <a:srgbClr val="1E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231136"/>
            <a:ext cx="6099048" cy="298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{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"mcpServers": {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8BD49C"/>
                </a:solidFill>
                <a:latin typeface="Consolas"/>
              </a:rPr>
              <a:t>    "sql-assistant": {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  "command": "sql-mcp-server",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  "args": [],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  "env": {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    "DB_SERVER": "localhost",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    "DB_NAME": "testdb",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8BD49C"/>
                </a:solidFill>
                <a:latin typeface="Consolas"/>
              </a:rPr>
              <a:t>        "DB_DRIVER": "ODBC Driver 17 for SQL Server",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    "DB_USER": "sa",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    "DB_PASSWORD": "&lt;YOUR_PASSWORD&gt;"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 i="0">
                <a:solidFill>
                  <a:srgbClr val="E6E9EF"/>
                </a:solidFill>
                <a:latin typeface="Consolas"/>
              </a:rPr>
              <a:t>      } } }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2066543"/>
            <a:ext cx="4062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A1D21"/>
                </a:solidFill>
                <a:latin typeface="Segoe UI"/>
              </a:rPr>
              <a:t>Two traps in this 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0648" y="2432303"/>
            <a:ext cx="4062679" cy="14447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70648" y="2432303"/>
            <a:ext cx="45720" cy="14447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2578608"/>
            <a:ext cx="36420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A1D21"/>
                </a:solidFill>
                <a:latin typeface="Segoe UI"/>
              </a:rPr>
              <a:t>Find the config the right 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0104" y="2889503"/>
            <a:ext cx="36420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Use Settings → Developer → Edit Config. On Windows, packaged installs of Claude Desktop do not use %APPDATA%\Claude — the real file sits under AppData\Local\Packages\&lt;id&gt;\LocalCache\Roaming\Claude\. Editing the wrong copy looks like the config being ignored.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0648" y="4005072"/>
            <a:ext cx="4062679" cy="14447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70648" y="4005072"/>
            <a:ext cx="45720" cy="14447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0104" y="4151376"/>
            <a:ext cx="36420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A1D21"/>
                </a:solidFill>
                <a:latin typeface="Segoe UI"/>
              </a:rPr>
              <a:t>Quit properly, not just 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4462272"/>
            <a:ext cx="36420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Closing the window leaves it running in the tray, and MCP servers are only launched on a cold start. Quit from the system tray, reopen, then confirm sql-assistant reads running under Settings → Developer.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559552"/>
            <a:ext cx="10874959" cy="51206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559552"/>
            <a:ext cx="50292" cy="51206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678424"/>
            <a:ext cx="1041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A4262C"/>
                </a:solidFill>
                <a:latin typeface="Segoe UI"/>
              </a:rPr>
              <a:t>Add, don't replace: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all four servers coexist under the same mcpServers key — keep the existing entries and append this 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The walkthrough · MS SQL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155448" cy="1554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788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MS SQL SERVER · SCHEMA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2100" b="1" i="0">
                <a:solidFill>
                  <a:srgbClr val="1A1D21"/>
                </a:solidFill>
                <a:latin typeface="Segoe UI"/>
              </a:rPr>
              <a:t>Reading the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No schema is supplied in the prompt — the column names, types and identity key all come back from a live metadata query.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0407" y="329184"/>
            <a:ext cx="5982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ASKED IN CLAUDE DESKTOP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5550407" y="566928"/>
            <a:ext cx="5982919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50407" y="566928"/>
            <a:ext cx="45720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9864" y="713232"/>
            <a:ext cx="5580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1">
                <a:solidFill>
                  <a:srgbClr val="1A1D21"/>
                </a:solidFill>
                <a:latin typeface="Segoe UI"/>
              </a:rPr>
              <a:t>“What columns does the books table have?”</a:t>
            </a:r>
          </a:p>
        </p:txBody>
      </p:sp>
      <p:pic>
        <p:nvPicPr>
          <p:cNvPr id="11" name="Picture 10" descr="mssql_query_schema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263" y="1371600"/>
            <a:ext cx="4623144" cy="4093311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pic>
        <p:nvPicPr>
          <p:cNvPr id="12" name="Picture 11" descr="mssql_query_schema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1371600"/>
            <a:ext cx="4623144" cy="4956048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MS 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155448" cy="1554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788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MS SQL SERVER ·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2100" b="1" i="0">
                <a:solidFill>
                  <a:srgbClr val="1A1D21"/>
                </a:solidFill>
                <a:latin typeface="Segoe UI"/>
              </a:rPr>
              <a:t>Aggregating across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Picks the grouping and the measure itself, composes the GROUP BY, and returns per-genre averages computed from the actual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0407" y="329184"/>
            <a:ext cx="5982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ASKED IN CLAUDE DESKTOP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5550407" y="566928"/>
            <a:ext cx="5982919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50407" y="566928"/>
            <a:ext cx="45720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9864" y="713232"/>
            <a:ext cx="5580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1">
                <a:solidFill>
                  <a:srgbClr val="1A1D21"/>
                </a:solidFill>
                <a:latin typeface="Segoe UI"/>
              </a:rPr>
              <a:t>“What's the average price by genre in the books table?”</a:t>
            </a:r>
          </a:p>
        </p:txBody>
      </p:sp>
      <p:pic>
        <p:nvPicPr>
          <p:cNvPr id="11" name="Picture 10" descr="mssql_query_aggrega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263" y="1371600"/>
            <a:ext cx="4623144" cy="4088622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pic>
        <p:nvPicPr>
          <p:cNvPr id="12" name="Picture 11" descr="mssql_query_aggregation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1371600"/>
            <a:ext cx="4623144" cy="4956048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MS 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155448" cy="1554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788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MS SQL SERVER · QUERY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2100" b="1" i="0">
                <a:solidFill>
                  <a:srgbClr val="1A1D21"/>
                </a:solidFill>
                <a:latin typeface="Segoe UI"/>
              </a:rPr>
              <a:t>Writing dialect-specific T-SQL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Uses TOP rather than the LIMIT syntax the other three engines expect — the same prompt produces different, correct SQL per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0407" y="329184"/>
            <a:ext cx="5982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ASKED IN CLAUDE DESKTOP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5550407" y="566928"/>
            <a:ext cx="5982919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50407" y="566928"/>
            <a:ext cx="45720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9864" y="713232"/>
            <a:ext cx="5580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1">
                <a:solidFill>
                  <a:srgbClr val="1A1D21"/>
                </a:solidFill>
                <a:latin typeface="Segoe UI"/>
              </a:rPr>
              <a:t>“Write and run a query to find the most expensive book.”</a:t>
            </a:r>
          </a:p>
        </p:txBody>
      </p:sp>
      <p:pic>
        <p:nvPicPr>
          <p:cNvPr id="11" name="Picture 10" descr="mssql_query_topquery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263" y="1371600"/>
            <a:ext cx="4623144" cy="3929203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pic>
        <p:nvPicPr>
          <p:cNvPr id="12" name="Picture 11" descr="mssql_query_topquery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1371600"/>
            <a:ext cx="4623144" cy="4956048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MS 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310896"/>
            <a:ext cx="155448" cy="1554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788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A4262C"/>
                </a:solidFill>
                <a:latin typeface="Segoe UI"/>
              </a:rPr>
              <a:t>MS SQL SERVER · CODE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2100" b="1" i="0">
                <a:solidFill>
                  <a:srgbClr val="1A1D21"/>
                </a:solidFill>
                <a:latin typeface="Segoe UI"/>
              </a:rPr>
              <a:t>Writing code from live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Queries the table first, then writes a script shaped around the schema it just read — real column names and types, no placeholders to fix afterwards.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0407" y="329184"/>
            <a:ext cx="5982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ASKED IN CLAUDE DESKTOP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5550407" y="566928"/>
            <a:ext cx="5982919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50407" y="566928"/>
            <a:ext cx="45720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9864" y="713232"/>
            <a:ext cx="5580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1">
                <a:solidFill>
                  <a:srgbClr val="1A1D21"/>
                </a:solidFill>
                <a:latin typeface="Segoe UI"/>
              </a:rPr>
              <a:t>“Write a Python script that pulls this data and charts it.”</a:t>
            </a:r>
          </a:p>
        </p:txBody>
      </p:sp>
      <p:pic>
        <p:nvPicPr>
          <p:cNvPr id="11" name="Picture 10" descr="mssql_query_codege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2181031"/>
            <a:ext cx="5346039" cy="3311011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pic>
        <p:nvPicPr>
          <p:cNvPr id="12" name="Picture 11" descr="mssql_query_codegen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181031"/>
            <a:ext cx="5346039" cy="3337185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MS 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55448" cy="1554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86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1C1C"/>
                </a:solidFill>
                <a:latin typeface="Segoe UI"/>
              </a:rPr>
              <a:t>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Segoe UI"/>
              </a:rPr>
              <a:t>What broke, and how it was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16736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None of this was in the original guide — each layer had to be diagnosed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371600" cy="3200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83080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121408"/>
            <a:ext cx="5300319" cy="17007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121408"/>
            <a:ext cx="5300319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40863"/>
            <a:ext cx="484311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A1D21"/>
                </a:solidFill>
                <a:latin typeface="Segoe UI"/>
              </a:rPr>
              <a:t>The recommended image spoke the wrong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34639"/>
            <a:ext cx="48431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openmcpserver/mcp-postgres:latest runs an HTTP server under Uvicorn. Claude Desktop's local MCP servers communicate over stdio, so this image cannot work here at all — confirmed by running it manually and watching it bind an HTTP port instead of starting a stdio process.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2121408"/>
            <a:ext cx="5300319" cy="17007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121408"/>
            <a:ext cx="5300319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0751" y="2340863"/>
            <a:ext cx="484311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A1D21"/>
                </a:solidFill>
                <a:latin typeface="Segoe UI"/>
              </a:rPr>
              <a:t>The officially recommended package was deprecated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2834639"/>
            <a:ext cx="48431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@modelcontextprotocol/server-postgres was retired mid-2026. Its suggested replacement, @crystaldba/postgres-mcp, does not exist on npm at all — it is a PyPI package meant to be run with uvx, not npx, which is why every npx attempt failed.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86783"/>
            <a:ext cx="5300319" cy="17007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986783"/>
            <a:ext cx="5300319" cy="45720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206240"/>
            <a:ext cx="484311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A1D21"/>
                </a:solidFill>
                <a:latin typeface="Segoe UI"/>
              </a:rPr>
              <a:t>An upstream SDK shipped a breaking change mid-build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700016"/>
            <a:ext cx="48431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mcp 2.0.0 renamed FastMCP and moved the module. Neither postgres-mcp nor sql-mcp-server declares an upper bound, so both resolved the version that breaks them. Pinning mcp&lt;2.0.0 fixed both — at invocation for uvx, at install for pip.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3986783"/>
            <a:ext cx="5300319" cy="17007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3986783"/>
            <a:ext cx="5300319" cy="45720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0751" y="4206240"/>
            <a:ext cx="484311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1A1D21"/>
                </a:solidFill>
                <a:latin typeface="Segoe UI"/>
              </a:rPr>
              <a:t>A native Windows service was hijacking the 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0751" y="4700016"/>
            <a:ext cx="48431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Postgres auth kept failing with a provably correct password. netstat -ano | findstr :5432 showed two listening PIDs; tasklist identified one as postgres.exe running as a Windows service, intercepting connections before Docker ever saw them. The container moved to 5433.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925312"/>
            <a:ext cx="10874959" cy="51206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925312"/>
            <a:ext cx="50292" cy="5120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6044183"/>
            <a:ext cx="1041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B91C1C"/>
                </a:solidFill>
                <a:latin typeface="Segoe UI"/>
              </a:rPr>
              <a:t>The pattern: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every failure surfaced far from its cause — a driver problem read as a bad password, a port conflict read as bad credentials, a dependency break read as a broken package.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Lessons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0624"/>
            <a:ext cx="155448" cy="1554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3886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1C1C"/>
                </a:solidFill>
                <a:latin typeface="Segoe UI"/>
              </a:rPr>
              <a:t>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000" b="1" i="0">
                <a:solidFill>
                  <a:srgbClr val="1A1D21"/>
                </a:solidFill>
                <a:latin typeface="Segoe UI"/>
              </a:rPr>
              <a:t>Being straight about the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16736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Segoe UI"/>
              </a:rPr>
              <a:t>What this setup does not do, stated plainly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371600" cy="3200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29967" y="1783080"/>
            <a:ext cx="9503359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139696"/>
            <a:ext cx="45720" cy="8412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39696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A1D21"/>
                </a:solidFill>
                <a:latin typeface="Segoe UI"/>
              </a:rPr>
              <a:t>Read-only is a wrapper flag, not a database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32303"/>
            <a:ext cx="105091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POSTGRES_READ_ONLY is enforced by the MCP wrapper — the underlying user is still a superuser. Anything bypassing the wrapper could write. A rigorous setup would create a dedicated read-only role and GRANT SELECT instead of relying on the flag.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90672"/>
            <a:ext cx="45720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090672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A1D21"/>
                </a:solidFill>
                <a:latin typeface="Segoe UI"/>
              </a:rPr>
              <a:t>Nothing persists across a reboot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383279"/>
            <a:ext cx="105091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Docker containers do not auto-start, and Claude Desktop only launches MCP servers on a cold start. Bringing everything back up is a documented five-minute sequence, not an always-on service.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041648"/>
            <a:ext cx="45720" cy="84124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41648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A1D21"/>
                </a:solidFill>
                <a:latin typeface="Segoe UI"/>
              </a:rPr>
              <a:t>The datasets are deliberately tiny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334256"/>
            <a:ext cx="105091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A handful of rows per database. The aim was a working protocol path end to end, not a benchmark of query performance or data volume.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992624"/>
            <a:ext cx="45720" cy="841248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99262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A1D21"/>
                </a:solidFill>
                <a:latin typeface="Segoe UI"/>
              </a:rPr>
              <a:t>No real credentials are committed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285232"/>
            <a:ext cx="1050919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Config files ship with placeholders, secrets live in a gitignored .env alongside a checked-in .env.example, and the real Claude Desktop config is gitignored too.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998464"/>
            <a:ext cx="10874959" cy="51206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998464"/>
            <a:ext cx="50292" cy="5120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6117336"/>
            <a:ext cx="1041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B91C1C"/>
                </a:solidFill>
                <a:latin typeface="Segoe UI"/>
              </a:rPr>
              <a:t>Why list these at all:  </a:t>
            </a:r>
            <a:r>
              <a:rPr sz="1250" b="0" i="0">
                <a:solidFill>
                  <a:srgbClr val="1A1D21"/>
                </a:solidFill>
                <a:latin typeface="Segoe UI"/>
              </a:rPr>
              <a:t>knowing the limits of a control is more useful than claiming it is airtight — and every one of these is written up in the repo rather than left implied.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Lessons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EXPLORE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Everything is in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B6BDC8"/>
                </a:solidFill>
                <a:latin typeface="Segoe UI"/>
              </a:rPr>
              <a:t>Each database has its own guide with every command, config block and gotcha for that engine — this deck walked through one of the four.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788920"/>
            <a:ext cx="6446520" cy="658368"/>
          </a:xfrm>
          <a:prstGeom prst="rect">
            <a:avLst/>
          </a:prstGeom>
          <a:solidFill>
            <a:srgbClr val="24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6265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github.com/4reeb-5yed/claude-db-connect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13048"/>
            <a:ext cx="146304" cy="146304"/>
          </a:xfrm>
          <a:prstGeom prst="rect">
            <a:avLst/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730752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D5DAE2"/>
                </a:solidFill>
                <a:latin typeface="Consolas"/>
              </a:rPr>
              <a:t>docs/setup/postgres.md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325112"/>
            <a:ext cx="146304" cy="1463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242816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D5DAE2"/>
                </a:solidFill>
                <a:latin typeface="Consolas"/>
              </a:rPr>
              <a:t>docs/setup/mysql.md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837176"/>
            <a:ext cx="146304" cy="146304"/>
          </a:xfrm>
          <a:prstGeom prst="rect">
            <a:avLst/>
          </a:prstGeom>
          <a:solidFill>
            <a:srgbClr val="A4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75488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D5DAE2"/>
                </a:solidFill>
                <a:latin typeface="Consolas"/>
              </a:rPr>
              <a:t>docs/setup/mssql.md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349240"/>
            <a:ext cx="146304" cy="146304"/>
          </a:xfrm>
          <a:prstGeom prst="rect">
            <a:avLst/>
          </a:prstGeom>
          <a:solidFill>
            <a:srgbClr val="0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5266944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D5DAE2"/>
                </a:solidFill>
                <a:latin typeface="Consolas"/>
              </a:rPr>
              <a:t>docs/setup/sqlite.md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788920"/>
            <a:ext cx="3703320" cy="3063240"/>
          </a:xfrm>
          <a:prstGeom prst="rect">
            <a:avLst/>
          </a:prstGeom>
          <a:solidFill>
            <a:srgbClr val="24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2788920"/>
            <a:ext cx="45720" cy="3063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0175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Also in the repo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42900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onsolas"/>
              </a:rPr>
              <a:t>README.md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66674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8E96A3"/>
                </a:solidFill>
                <a:latin typeface="Segoe UI"/>
              </a:rPr>
              <a:t>overview, architecture and a screenshot per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032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onsolas"/>
              </a:rPr>
              <a:t>PLAN.md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2702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8E96A3"/>
                </a:solidFill>
                <a:latin typeface="Segoe UI"/>
              </a:rPr>
              <a:t>the full build log and design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63600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onsolas"/>
              </a:rPr>
              <a:t>scripts/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8737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8E96A3"/>
                </a:solidFill>
                <a:latin typeface="Segoe UI"/>
              </a:rPr>
              <a:t>a helper to bring the Postgres container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523951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onsolas"/>
              </a:rPr>
              <a:t>sql/ · config/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4772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8E96A3"/>
                </a:solidFill>
                <a:latin typeface="Segoe UI"/>
              </a:rPr>
              <a:t>schemas and Claude Desktop config 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053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1">
                <a:solidFill>
                  <a:srgbClr val="8E96A3"/>
                </a:solidFill>
                <a:latin typeface="Segoe UI"/>
              </a:rPr>
              <a:t>Four databases, four different failure modes, one working protocol path — all documented.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3737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E7480"/>
                </a:solidFill>
                <a:latin typeface="Segoe UI"/>
              </a:rPr>
              <a:t>Claude DB Connect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1807" y="64373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50" b="0" i="0">
                <a:solidFill>
                  <a:srgbClr val="6E748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